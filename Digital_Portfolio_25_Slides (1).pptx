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83" r:id="rId3"/>
    <p:sldId id="284" r:id="rId4"/>
    <p:sldId id="285" r:id="rId5"/>
    <p:sldId id="282" r:id="rId6"/>
    <p:sldId id="286" r:id="rId7"/>
    <p:sldId id="287" r:id="rId8"/>
    <p:sldId id="288" r:id="rId9"/>
    <p:sldId id="289" r:id="rId10"/>
    <p:sldId id="290" r:id="rId11"/>
    <p:sldId id="291" r:id="rId12"/>
    <p:sldId id="266" r:id="rId13"/>
    <p:sldId id="268" r:id="rId14"/>
    <p:sldId id="270" r:id="rId15"/>
    <p:sldId id="271" r:id="rId16"/>
    <p:sldId id="292" r:id="rId17"/>
    <p:sldId id="277" r:id="rId18"/>
    <p:sldId id="278" r:id="rId19"/>
    <p:sldId id="279" r:id="rId20"/>
    <p:sldId id="28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186" autoAdjust="0"/>
    <p:restoredTop sz="88105" autoAdjust="0"/>
  </p:normalViewPr>
  <p:slideViewPr>
    <p:cSldViewPr snapToGrid="0" snapToObjects="1">
      <p:cViewPr varScale="1">
        <p:scale>
          <a:sx n="59" d="100"/>
          <a:sy n="59" d="100"/>
        </p:scale>
        <p:origin x="-1456"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5BCAD085-E8A6-8845-BD4E-CB4CCA059FC4}" type="datetimeFigureOut">
              <a:rPr lang="en-US" smtClean="0"/>
              <a:pPr/>
              <a:t>9/1/2025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C1FF6DA9-008F-8B48-92A6-B652298478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9/1/2025</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5BCAD085-E8A6-8845-BD4E-CB4CCA059FC4}" type="datetimeFigureOut">
              <a:rPr lang="en-US" smtClean="0"/>
              <a:pPr/>
              <a:t>9/1/2025</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C1FF6DA9-008F-8B48-92A6-B652298478BF}"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5472" y="155448"/>
            <a:ext cx="5911327" cy="1252728"/>
          </a:xfrm>
        </p:spPr>
        <p:txBody>
          <a:bodyPr anchor="ctr"/>
          <a:lstStyle/>
          <a:p>
            <a:r>
              <a:t>Digital Portfolio 2025</a:t>
            </a:r>
          </a:p>
        </p:txBody>
      </p:sp>
      <p:sp>
        <p:nvSpPr>
          <p:cNvPr id="3" name="Content Placeholder 2"/>
          <p:cNvSpPr>
            <a:spLocks noGrp="1"/>
          </p:cNvSpPr>
          <p:nvPr>
            <p:ph idx="1"/>
          </p:nvPr>
        </p:nvSpPr>
        <p:spPr>
          <a:xfrm>
            <a:off x="1086522" y="1990344"/>
            <a:ext cx="8229600" cy="4625609"/>
          </a:xfrm>
        </p:spPr>
        <p:txBody>
          <a:bodyPr/>
          <a:lstStyle/>
          <a:p>
            <a:r>
              <a:rPr dirty="0"/>
              <a:t>Name</a:t>
            </a:r>
            <a:r>
              <a:rPr/>
              <a:t>: </a:t>
            </a:r>
            <a:r>
              <a:rPr lang="en-US" dirty="0" smtClean="0"/>
              <a:t>THARANGINI</a:t>
            </a:r>
            <a:endParaRPr dirty="0"/>
          </a:p>
          <a:p>
            <a:r>
              <a:rPr dirty="0"/>
              <a:t>Register No</a:t>
            </a:r>
            <a:r>
              <a:rPr/>
              <a:t>: </a:t>
            </a:r>
            <a:r>
              <a:rPr lang="en-US" b="1" dirty="0" smtClean="0">
                <a:latin typeface="Arial" pitchFamily="34" charset="0"/>
                <a:cs typeface="Arial" pitchFamily="34" charset="0"/>
              </a:rPr>
              <a:t>20624U18109</a:t>
            </a:r>
            <a:r>
              <a:rPr lang="en-US" dirty="0" smtClean="0"/>
              <a:t> </a:t>
            </a:r>
            <a:r>
              <a:rPr lang="en-US" dirty="0" smtClean="0"/>
              <a:t>and </a:t>
            </a:r>
            <a:r>
              <a:rPr lang="en-US" dirty="0" smtClean="0"/>
              <a:t>7</a:t>
            </a:r>
            <a:r>
              <a:rPr lang="en-US" dirty="0" smtClean="0">
                <a:latin typeface="Arial Black" pitchFamily="34" charset="0"/>
              </a:rPr>
              <a:t>C847273E876E69AB984DF032057A7B5</a:t>
            </a:r>
            <a:endParaRPr dirty="0">
              <a:latin typeface="Arial Black" pitchFamily="34" charset="0"/>
              <a:cs typeface="Arial" pitchFamily="34" charset="0"/>
            </a:endParaRPr>
          </a:p>
          <a:p>
            <a:r>
              <a:rPr b="1" dirty="0"/>
              <a:t>Department</a:t>
            </a:r>
            <a:r>
              <a:rPr/>
              <a:t>: </a:t>
            </a:r>
            <a:r>
              <a:rPr lang="en-US" dirty="0" smtClean="0"/>
              <a:t>BSC [</a:t>
            </a:r>
            <a:r>
              <a:rPr lang="en-US" dirty="0" smtClean="0"/>
              <a:t>Computer </a:t>
            </a:r>
            <a:r>
              <a:rPr lang="en-US" dirty="0" smtClean="0"/>
              <a:t>science</a:t>
            </a:r>
            <a:r>
              <a:rPr dirty="0" smtClean="0"/>
              <a:t>]</a:t>
            </a:r>
            <a:endParaRPr dirty="0"/>
          </a:p>
          <a:p>
            <a:r>
              <a:rPr dirty="0"/>
              <a:t>College: </a:t>
            </a:r>
            <a:r>
              <a:rPr smtClean="0"/>
              <a:t>[</a:t>
            </a:r>
            <a:r>
              <a:rPr lang="en-US" dirty="0" smtClean="0"/>
              <a:t>KAMBAN COLLEGE OF ARTS AND SCIENCE FOR WOMEN/THIRUVALLUVAR UNIVERSITY]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spc="5" dirty="0" smtClean="0"/>
              <a:t>PROJECT</a:t>
            </a:r>
            <a:r>
              <a:rPr lang="en-US" sz="4800" spc="-85" dirty="0" smtClean="0"/>
              <a:t> </a:t>
            </a:r>
            <a:r>
              <a:rPr lang="en-US" sz="4800" spc="25" dirty="0" smtClean="0"/>
              <a:t>TITLE</a:t>
            </a:r>
            <a:endParaRPr lang="en-US" dirty="0"/>
          </a:p>
        </p:txBody>
      </p:sp>
      <p:sp>
        <p:nvSpPr>
          <p:cNvPr id="3" name="Content Placeholder 2"/>
          <p:cNvSpPr>
            <a:spLocks noGrp="1"/>
          </p:cNvSpPr>
          <p:nvPr>
            <p:ph idx="1"/>
          </p:nvPr>
        </p:nvSpPr>
        <p:spPr>
          <a:xfrm>
            <a:off x="2492681" y="1615859"/>
            <a:ext cx="5649238" cy="1027134"/>
          </a:xfrm>
        </p:spPr>
        <p:txBody>
          <a:bodyPr/>
          <a:lstStyle/>
          <a:p>
            <a:pPr>
              <a:buNone/>
            </a:pPr>
            <a:r>
              <a:rPr lang="en-US" dirty="0" smtClean="0"/>
              <a:t>DIGITAL PORTFOLIO</a:t>
            </a:r>
            <a:endParaRPr lang="en-US" dirty="0"/>
          </a:p>
        </p:txBody>
      </p:sp>
      <p:pic>
        <p:nvPicPr>
          <p:cNvPr id="4" name="Picture 3" descr="images.png"/>
          <p:cNvPicPr>
            <a:picLocks noChangeAspect="1"/>
          </p:cNvPicPr>
          <p:nvPr/>
        </p:nvPicPr>
        <p:blipFill>
          <a:blip r:embed="rId2"/>
          <a:stretch>
            <a:fillRect/>
          </a:stretch>
        </p:blipFill>
        <p:spPr>
          <a:xfrm>
            <a:off x="1791222" y="2642993"/>
            <a:ext cx="6075124" cy="33820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836" y="155448"/>
            <a:ext cx="8229600" cy="1252728"/>
          </a:xfrm>
        </p:spPr>
        <p:txBody>
          <a:bodyPr>
            <a:normAutofit fontScale="90000"/>
          </a:bodyPr>
          <a:lstStyle/>
          <a:p>
            <a:r>
              <a:rPr lang="en-US" sz="4800" u="sng" dirty="0" smtClean="0">
                <a:solidFill>
                  <a:schemeClr val="accent3">
                    <a:lumMod val="60000"/>
                    <a:lumOff val="40000"/>
                  </a:schemeClr>
                </a:solidFill>
                <a:latin typeface="Algerian" pitchFamily="82" charset="0"/>
              </a:rPr>
              <a:t>DEFINITION OF DIGITAL PORTFOLIO</a:t>
            </a:r>
            <a:endParaRPr lang="en-US" dirty="0">
              <a:solidFill>
                <a:schemeClr val="accent3">
                  <a:lumMod val="60000"/>
                  <a:lumOff val="40000"/>
                </a:schemeClr>
              </a:solidFill>
            </a:endParaRPr>
          </a:p>
        </p:txBody>
      </p:sp>
      <p:sp>
        <p:nvSpPr>
          <p:cNvPr id="3" name="Content Placeholder 2"/>
          <p:cNvSpPr>
            <a:spLocks noGrp="1"/>
          </p:cNvSpPr>
          <p:nvPr>
            <p:ph idx="1"/>
          </p:nvPr>
        </p:nvSpPr>
        <p:spPr>
          <a:xfrm>
            <a:off x="457200" y="1775192"/>
            <a:ext cx="5656217" cy="4285974"/>
          </a:xfrm>
        </p:spPr>
        <p:txBody>
          <a:bodyPr>
            <a:normAutofit fontScale="47500" lnSpcReduction="20000"/>
          </a:bodyPr>
          <a:lstStyle/>
          <a:p>
            <a:endParaRPr lang="en-US" sz="4200" dirty="0" smtClean="0"/>
          </a:p>
          <a:p>
            <a:r>
              <a:rPr lang="en-US" sz="4200" b="1" i="1" dirty="0" smtClean="0"/>
              <a:t>A digital portfolio is an online collection of an individual's work, skills, and accomplishments. </a:t>
            </a:r>
          </a:p>
          <a:p>
            <a:endParaRPr lang="en-US" sz="4200" b="1" i="1" dirty="0" smtClean="0"/>
          </a:p>
          <a:p>
            <a:r>
              <a:rPr lang="en-US" sz="4200" b="1" i="1" dirty="0" smtClean="0"/>
              <a:t>It serves as a dynamic and visually engaging platform to showcase professional capabilities and experiences to potential employers, clients, or collaborators.</a:t>
            </a:r>
          </a:p>
          <a:p>
            <a:endParaRPr lang="en-US" sz="4200" b="1" i="1" dirty="0" smtClean="0"/>
          </a:p>
          <a:p>
            <a:r>
              <a:rPr lang="en-US" sz="4200" b="1" i="1" dirty="0" smtClean="0"/>
              <a:t> Unlike traditional paper-based portfolios, digital portfolios can easily incorporate multimedia elements like images, videos, and interactive content, making them a powerful tool for demonstrating expertise</a:t>
            </a:r>
            <a:endParaRPr lang="en-US" sz="4200" b="1"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Agenda</a:t>
            </a:r>
          </a:p>
        </p:txBody>
      </p:sp>
      <p:sp>
        <p:nvSpPr>
          <p:cNvPr id="3" name="Content Placeholder 2"/>
          <p:cNvSpPr>
            <a:spLocks noGrp="1"/>
          </p:cNvSpPr>
          <p:nvPr>
            <p:ph idx="1"/>
          </p:nvPr>
        </p:nvSpPr>
        <p:spPr>
          <a:solidFill>
            <a:schemeClr val="bg1"/>
          </a:solidFill>
          <a:ln>
            <a:solidFill>
              <a:schemeClr val="accent4"/>
            </a:solidFill>
          </a:ln>
        </p:spPr>
        <p:txBody>
          <a:bodyPr>
            <a:normAutofit/>
          </a:bodyPr>
          <a:lstStyle/>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Problem Statement</a:t>
            </a:r>
          </a:p>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Project Overview</a:t>
            </a:r>
          </a:p>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End Users</a:t>
            </a:r>
          </a:p>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Tools and Technologies</a:t>
            </a:r>
          </a:p>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Portfolio design and Layout</a:t>
            </a:r>
          </a:p>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Features and Functionality</a:t>
            </a:r>
          </a:p>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Results and Screenshots</a:t>
            </a:r>
          </a:p>
          <a:p>
            <a:pPr>
              <a:buFont typeface="+mj-lt"/>
              <a:buAutoNum type="arabicPeriod"/>
            </a:pPr>
            <a:r>
              <a:rPr lang="en-US" dirty="0" smtClean="0">
                <a:solidFill>
                  <a:schemeClr val="tx1">
                    <a:lumMod val="95000"/>
                  </a:schemeClr>
                </a:solidFill>
                <a:latin typeface="Times New Roman" panose="02020603050405020304" pitchFamily="18" charset="0"/>
                <a:cs typeface="Times New Roman" panose="02020603050405020304" pitchFamily="18" charset="0"/>
              </a:rPr>
              <a:t>Conclusion</a:t>
            </a:r>
          </a:p>
          <a:p>
            <a:pPr>
              <a:buFont typeface="+mj-lt"/>
              <a:buAutoNum type="arabicPeriod"/>
            </a:pPr>
            <a:r>
              <a:rPr lang="en-US" dirty="0" err="1" smtClean="0">
                <a:solidFill>
                  <a:schemeClr val="tx1">
                    <a:lumMod val="95000"/>
                  </a:schemeClr>
                </a:solidFill>
                <a:latin typeface="Times New Roman" panose="02020603050405020304" pitchFamily="18" charset="0"/>
                <a:cs typeface="Times New Roman" panose="02020603050405020304" pitchFamily="18" charset="0"/>
              </a:rPr>
              <a:t>Github</a:t>
            </a:r>
            <a:r>
              <a:rPr lang="en-US" dirty="0" smtClean="0">
                <a:solidFill>
                  <a:schemeClr val="tx1">
                    <a:lumMod val="95000"/>
                  </a:schemeClr>
                </a:solidFill>
                <a:latin typeface="Times New Roman" panose="02020603050405020304" pitchFamily="18" charset="0"/>
                <a:cs typeface="Times New Roman" panose="02020603050405020304" pitchFamily="18" charset="0"/>
              </a:rPr>
              <a:t> Link</a:t>
            </a:r>
          </a:p>
          <a:p>
            <a:pPr>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grpSp>
        <p:nvGrpSpPr>
          <p:cNvPr id="4" name="object 2"/>
          <p:cNvGrpSpPr>
            <a:grpSpLocks noGrp="1"/>
          </p:cNvGrpSpPr>
          <p:nvPr>
            <p:ph idx="1"/>
          </p:nvPr>
        </p:nvGrpSpPr>
        <p:grpSpPr>
          <a:xfrm>
            <a:off x="5615591" y="3849886"/>
            <a:ext cx="3294346" cy="2730674"/>
            <a:chOff x="7991475" y="2933700"/>
            <a:chExt cx="2762250" cy="3257550"/>
          </a:xfrm>
        </p:grpSpPr>
        <p:sp>
          <p:nvSpPr>
            <p:cNvPr id="5"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6"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7" name="object 5"/>
            <p:cNvPicPr/>
            <p:nvPr/>
          </p:nvPicPr>
          <p:blipFill>
            <a:blip r:embed="rId2" cstate="print"/>
            <a:stretch>
              <a:fillRect/>
            </a:stretch>
          </p:blipFill>
          <p:spPr>
            <a:xfrm>
              <a:off x="7991475" y="2933700"/>
              <a:ext cx="2762250" cy="3257550"/>
            </a:xfrm>
            <a:prstGeom prst="rect">
              <a:avLst/>
            </a:prstGeom>
          </p:spPr>
        </p:pic>
      </p:grpSp>
      <p:sp>
        <p:nvSpPr>
          <p:cNvPr id="8" name="Rectangle 7"/>
          <p:cNvSpPr/>
          <p:nvPr/>
        </p:nvSpPr>
        <p:spPr>
          <a:xfrm>
            <a:off x="300625" y="1703541"/>
            <a:ext cx="5749446" cy="3693319"/>
          </a:xfrm>
          <a:prstGeom prst="rect">
            <a:avLst/>
          </a:prstGeom>
        </p:spPr>
        <p:txBody>
          <a:bodyPr wrap="square">
            <a:spAutoFit/>
          </a:bodyPr>
          <a:lstStyle/>
          <a:p>
            <a:pPr>
              <a:buFont typeface="Wingdings" pitchFamily="2" charset="2"/>
              <a:buChar char="Ø"/>
            </a:pPr>
            <a:r>
              <a:rPr lang="en-US" dirty="0" smtClean="0">
                <a:solidFill>
                  <a:schemeClr val="tx1">
                    <a:lumMod val="95000"/>
                  </a:schemeClr>
                </a:solidFill>
                <a:latin typeface="ui-sans-serif"/>
              </a:rPr>
              <a:t>In today's digital age, individuals—especially students, professionals, and </a:t>
            </a:r>
            <a:r>
              <a:rPr lang="en-US" dirty="0" err="1" smtClean="0">
                <a:solidFill>
                  <a:schemeClr val="tx1">
                    <a:lumMod val="95000"/>
                  </a:schemeClr>
                </a:solidFill>
                <a:latin typeface="ui-sans-serif"/>
              </a:rPr>
              <a:t>creatives</a:t>
            </a:r>
            <a:r>
              <a:rPr lang="en-US" dirty="0" smtClean="0">
                <a:solidFill>
                  <a:schemeClr val="tx1">
                    <a:lumMod val="95000"/>
                  </a:schemeClr>
                </a:solidFill>
                <a:latin typeface="ui-sans-serif"/>
              </a:rPr>
              <a:t>—face challenges in showcasing their skills, achievements, and personal brand effectively. </a:t>
            </a:r>
          </a:p>
          <a:p>
            <a:endParaRPr lang="en-US" dirty="0" smtClean="0">
              <a:solidFill>
                <a:schemeClr val="tx1">
                  <a:lumMod val="95000"/>
                </a:schemeClr>
              </a:solidFill>
              <a:latin typeface="ui-sans-serif"/>
            </a:endParaRPr>
          </a:p>
          <a:p>
            <a:pPr>
              <a:buFont typeface="Wingdings" pitchFamily="2" charset="2"/>
              <a:buChar char="Ø"/>
            </a:pPr>
            <a:r>
              <a:rPr lang="en-US" dirty="0" smtClean="0">
                <a:solidFill>
                  <a:schemeClr val="tx1">
                    <a:lumMod val="95000"/>
                  </a:schemeClr>
                </a:solidFill>
                <a:latin typeface="ui-sans-serif"/>
              </a:rPr>
              <a:t>Traditional resumes and paper-based portfolios lack interactivity, accessibility, and the ability to reflect a person's dynamic capabilities in real time.</a:t>
            </a:r>
          </a:p>
          <a:p>
            <a:endParaRPr lang="en-US" dirty="0" smtClean="0">
              <a:solidFill>
                <a:schemeClr val="tx1">
                  <a:lumMod val="95000"/>
                </a:schemeClr>
              </a:solidFill>
              <a:latin typeface="ui-sans-serif"/>
            </a:endParaRPr>
          </a:p>
          <a:p>
            <a:pPr>
              <a:buFont typeface="Wingdings" pitchFamily="2" charset="2"/>
              <a:buChar char="Ø"/>
            </a:pPr>
            <a:r>
              <a:rPr lang="en-US" dirty="0" smtClean="0">
                <a:solidFill>
                  <a:schemeClr val="tx1">
                    <a:lumMod val="95000"/>
                  </a:schemeClr>
                </a:solidFill>
                <a:latin typeface="ui-sans-serif"/>
              </a:rPr>
              <a:t> Employers, clients, and academic institutions increasingly expect a more comprehensive, visually appealing, and interactive way to evaluate a candidate’s work and qualifications.</a:t>
            </a:r>
            <a:endParaRPr lang="en-US" dirty="0">
              <a:solidFill>
                <a:schemeClr val="tx1">
                  <a:lumMod val="9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Content Placeholder 2"/>
          <p:cNvSpPr>
            <a:spLocks noGrp="1"/>
          </p:cNvSpPr>
          <p:nvPr>
            <p:ph idx="1"/>
          </p:nvPr>
        </p:nvSpPr>
        <p:spPr/>
        <p:txBody>
          <a:bodyPr/>
          <a:lstStyle/>
          <a:p>
            <a:r>
              <a:rPr lang="en-US" dirty="0" smtClean="0"/>
              <a:t>Project description</a:t>
            </a:r>
          </a:p>
          <a:p>
            <a:r>
              <a:rPr lang="en-US" dirty="0" smtClean="0"/>
              <a:t>Purpose and goals</a:t>
            </a:r>
          </a:p>
          <a:p>
            <a:r>
              <a:rPr lang="en-US" dirty="0" smtClean="0"/>
              <a:t>Key features</a:t>
            </a:r>
          </a:p>
          <a:p>
            <a:r>
              <a:rPr lang="en-US" dirty="0" smtClean="0"/>
              <a:t>Target users</a:t>
            </a:r>
          </a:p>
          <a:p>
            <a:r>
              <a:rPr lang="en-US" dirty="0" smtClean="0"/>
              <a:t>Technologies used (Example)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5858" y="155448"/>
            <a:ext cx="6012493" cy="1252728"/>
          </a:xfrm>
        </p:spPr>
        <p:txBody>
          <a:bodyPr/>
          <a:lstStyle/>
          <a:p>
            <a:r>
              <a:rPr dirty="0" smtClean="0"/>
              <a:t>Project</a:t>
            </a:r>
            <a:r>
              <a:rPr lang="en-US" dirty="0" smtClean="0"/>
              <a:t>  </a:t>
            </a:r>
            <a:r>
              <a:rPr lang="en-US" sz="4800" dirty="0" smtClean="0"/>
              <a:t>Description</a:t>
            </a:r>
            <a:endParaRPr dirty="0"/>
          </a:p>
        </p:txBody>
      </p:sp>
      <p:sp>
        <p:nvSpPr>
          <p:cNvPr id="3" name="Content Placeholder 2"/>
          <p:cNvSpPr>
            <a:spLocks noGrp="1"/>
          </p:cNvSpPr>
          <p:nvPr>
            <p:ph idx="1"/>
          </p:nvPr>
        </p:nvSpPr>
        <p:spPr/>
        <p:txBody>
          <a:bodyPr>
            <a:noAutofit/>
          </a:bodyPr>
          <a:lstStyle/>
          <a:p>
            <a:endParaRPr lang="en-US" sz="2000" b="1" dirty="0" smtClean="0"/>
          </a:p>
          <a:p>
            <a:r>
              <a:rPr lang="en-US" sz="2000" dirty="0" smtClean="0"/>
              <a:t>This project involves the design and development of a </a:t>
            </a:r>
            <a:r>
              <a:rPr lang="en-US" sz="2000" b="1" dirty="0" smtClean="0"/>
              <a:t>digital portfolio website</a:t>
            </a:r>
            <a:r>
              <a:rPr lang="en-US" sz="2000" dirty="0" smtClean="0"/>
              <a:t> that serves as an interactive platform for individuals to present their </a:t>
            </a:r>
            <a:r>
              <a:rPr lang="en-US" sz="2000" b="1" dirty="0" smtClean="0"/>
              <a:t>skills, projects, experiences, education, and achievements</a:t>
            </a:r>
            <a:r>
              <a:rPr lang="en-US" sz="2000" dirty="0" smtClean="0"/>
              <a:t> in a visually appealing and organized manner. The digital portfolio is intended to enhance personal branding and make it easier for employers, clients, or academic institutions to assess the individual's qualifications and work.</a:t>
            </a:r>
          </a:p>
          <a:p>
            <a:r>
              <a:rPr lang="en-US" sz="2000" dirty="0" smtClean="0"/>
              <a:t>The website will be fully responsive, ensuring optimal viewing on desktops, tablets, and </a:t>
            </a:r>
            <a:r>
              <a:rPr lang="en-US" sz="2000" dirty="0" err="1" smtClean="0"/>
              <a:t>smartphones</a:t>
            </a:r>
            <a:r>
              <a:rPr lang="en-US" sz="2000" dirty="0" smtClean="0"/>
              <a:t>. It will also support multimedia elements such as images, videos, and downloadable files to provide a dynamic and engaging experience.</a:t>
            </a:r>
          </a:p>
          <a:p>
            <a:pPr>
              <a:buNone/>
            </a:pP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To create a </a:t>
            </a:r>
            <a:r>
              <a:rPr lang="en-US" b="1" dirty="0" smtClean="0"/>
              <a:t>professional online presence</a:t>
            </a:r>
            <a:r>
              <a:rPr lang="en-US" dirty="0" smtClean="0"/>
              <a:t>.</a:t>
            </a:r>
          </a:p>
          <a:p>
            <a:r>
              <a:rPr lang="en-US" dirty="0" smtClean="0"/>
              <a:t>To provide a </a:t>
            </a:r>
            <a:r>
              <a:rPr lang="en-US" b="1" dirty="0" smtClean="0"/>
              <a:t>centralized platform</a:t>
            </a:r>
            <a:r>
              <a:rPr lang="en-US" dirty="0" smtClean="0"/>
              <a:t> for showcasing skills, projects, certifications, and experiences.</a:t>
            </a:r>
          </a:p>
          <a:p>
            <a:r>
              <a:rPr lang="en-US" dirty="0" smtClean="0"/>
              <a:t>To enable </a:t>
            </a:r>
            <a:r>
              <a:rPr lang="en-US" b="1" dirty="0" smtClean="0"/>
              <a:t>easy sharing</a:t>
            </a:r>
            <a:r>
              <a:rPr lang="en-US" dirty="0" smtClean="0"/>
              <a:t> of personal or professional information via a web link.</a:t>
            </a:r>
          </a:p>
          <a:p>
            <a:r>
              <a:rPr lang="en-US" dirty="0" smtClean="0"/>
              <a:t>To help users </a:t>
            </a:r>
            <a:r>
              <a:rPr lang="en-US" b="1" dirty="0" smtClean="0"/>
              <a:t>stand out</a:t>
            </a:r>
            <a:r>
              <a:rPr lang="en-US" dirty="0" smtClean="0"/>
              <a:t> in job applications, freelance markets, or academic opportunities.</a:t>
            </a:r>
          </a:p>
          <a:p>
            <a:endParaRPr lang="en-US" dirty="0"/>
          </a:p>
        </p:txBody>
      </p:sp>
      <p:sp>
        <p:nvSpPr>
          <p:cNvPr id="4" name="Title 3"/>
          <p:cNvSpPr>
            <a:spLocks noGrp="1"/>
          </p:cNvSpPr>
          <p:nvPr>
            <p:ph type="title"/>
          </p:nvPr>
        </p:nvSpPr>
        <p:spPr>
          <a:xfrm>
            <a:off x="1493134" y="155448"/>
            <a:ext cx="7193666" cy="1252728"/>
          </a:xfrm>
        </p:spPr>
        <p:txBody>
          <a:bodyPr>
            <a:normAutofit/>
          </a:bodyPr>
          <a:lstStyle/>
          <a:p>
            <a:r>
              <a:rPr lang="en-US" dirty="0" smtClean="0"/>
              <a:t>Purpose and Goals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2258" y="155448"/>
            <a:ext cx="5816278" cy="1252728"/>
          </a:xfrm>
        </p:spPr>
        <p:txBody>
          <a:bodyPr/>
          <a:lstStyle/>
          <a:p>
            <a:r>
              <a:rPr lang="en-US" dirty="0" smtClean="0"/>
              <a:t>Key features</a:t>
            </a:r>
          </a:p>
        </p:txBody>
      </p:sp>
      <p:sp>
        <p:nvSpPr>
          <p:cNvPr id="3" name="Content Placeholder 2"/>
          <p:cNvSpPr>
            <a:spLocks noGrp="1"/>
          </p:cNvSpPr>
          <p:nvPr>
            <p:ph idx="1"/>
          </p:nvPr>
        </p:nvSpPr>
        <p:spPr/>
        <p:txBody>
          <a:bodyPr/>
          <a:lstStyle/>
          <a:p>
            <a:r>
              <a:rPr lang="en-US" b="1" dirty="0" smtClean="0"/>
              <a:t>About Me</a:t>
            </a:r>
            <a:r>
              <a:rPr lang="en-US" dirty="0" smtClean="0"/>
              <a:t> section</a:t>
            </a:r>
          </a:p>
          <a:p>
            <a:r>
              <a:rPr lang="en-US" b="1" dirty="0" smtClean="0"/>
              <a:t>Resume/CV</a:t>
            </a:r>
            <a:r>
              <a:rPr lang="en-US" dirty="0" smtClean="0"/>
              <a:t> download option</a:t>
            </a:r>
          </a:p>
          <a:p>
            <a:r>
              <a:rPr lang="en-US" b="1" dirty="0" smtClean="0"/>
              <a:t>Skills &amp; Tools</a:t>
            </a:r>
            <a:r>
              <a:rPr lang="en-US" dirty="0" smtClean="0"/>
              <a:t> listing</a:t>
            </a:r>
          </a:p>
          <a:p>
            <a:r>
              <a:rPr lang="en-US" b="1" dirty="0" smtClean="0"/>
              <a:t>Project Showcase</a:t>
            </a:r>
            <a:r>
              <a:rPr lang="en-US" dirty="0" smtClean="0"/>
              <a:t> with descriptions, images, and links</a:t>
            </a:r>
          </a:p>
          <a:p>
            <a:r>
              <a:rPr lang="en-US" b="1" dirty="0" smtClean="0"/>
              <a:t>Education and Experience</a:t>
            </a:r>
            <a:r>
              <a:rPr lang="en-US" dirty="0" smtClean="0"/>
              <a:t> timelines</a:t>
            </a:r>
          </a:p>
          <a:p>
            <a:r>
              <a:rPr lang="en-US" b="1" dirty="0" smtClean="0"/>
              <a:t>Contact Form</a:t>
            </a:r>
            <a:r>
              <a:rPr lang="en-US" dirty="0" smtClean="0"/>
              <a:t> or integrated contact details</a:t>
            </a:r>
          </a:p>
          <a:p>
            <a:r>
              <a:rPr lang="en-US" b="1" dirty="0" smtClean="0"/>
              <a:t>Responsive Design</a:t>
            </a:r>
            <a:r>
              <a:rPr lang="en-US" dirty="0" smtClean="0"/>
              <a:t> (mobile-friendly)</a:t>
            </a:r>
          </a:p>
          <a:p>
            <a:r>
              <a:rPr lang="en-US" b="1" dirty="0" smtClean="0"/>
              <a:t>Customizable Theme</a:t>
            </a:r>
            <a:r>
              <a:rPr lang="en-US" dirty="0" smtClean="0"/>
              <a:t> (optional)</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2810" y="155448"/>
            <a:ext cx="5984112" cy="1252728"/>
          </a:xfrm>
        </p:spPr>
        <p:txBody>
          <a:bodyPr/>
          <a:lstStyle/>
          <a:p>
            <a:r>
              <a:rPr lang="en-US" dirty="0" smtClean="0"/>
              <a:t>Target Users</a:t>
            </a:r>
            <a:endParaRPr lang="en-US" dirty="0"/>
          </a:p>
        </p:txBody>
      </p:sp>
      <p:sp>
        <p:nvSpPr>
          <p:cNvPr id="3" name="Content Placeholder 2"/>
          <p:cNvSpPr>
            <a:spLocks noGrp="1"/>
          </p:cNvSpPr>
          <p:nvPr>
            <p:ph idx="1"/>
          </p:nvPr>
        </p:nvSpPr>
        <p:spPr>
          <a:xfrm>
            <a:off x="457200" y="1921397"/>
            <a:ext cx="8229600" cy="4112388"/>
          </a:xfrm>
        </p:spPr>
        <p:txBody>
          <a:bodyPr/>
          <a:lstStyle/>
          <a:p>
            <a:pPr>
              <a:buNone/>
            </a:pPr>
            <a:endParaRPr lang="en-US" b="1" dirty="0" smtClean="0"/>
          </a:p>
          <a:p>
            <a:r>
              <a:rPr lang="en-US" dirty="0" smtClean="0"/>
              <a:t>Students and recent graduates</a:t>
            </a:r>
          </a:p>
          <a:p>
            <a:r>
              <a:rPr lang="en-US" dirty="0" smtClean="0"/>
              <a:t>Job seekers and professionals</a:t>
            </a:r>
          </a:p>
          <a:p>
            <a:r>
              <a:rPr lang="en-US" dirty="0" smtClean="0"/>
              <a:t>Freelancers and </a:t>
            </a:r>
            <a:r>
              <a:rPr lang="en-US" dirty="0" err="1" smtClean="0"/>
              <a:t>creatives</a:t>
            </a:r>
            <a:r>
              <a:rPr lang="en-US" dirty="0" smtClean="0"/>
              <a:t> (designers, developers, writers, etc.)</a:t>
            </a:r>
          </a:p>
          <a:p>
            <a:r>
              <a:rPr lang="en-US" dirty="0" smtClean="0"/>
              <a:t>Academics and researchers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272" y="567160"/>
            <a:ext cx="7268903" cy="729206"/>
          </a:xfrm>
        </p:spPr>
        <p:txBody>
          <a:bodyPr>
            <a:normAutofit fontScale="90000"/>
          </a:bodyPr>
          <a:lstStyle/>
          <a:p>
            <a:r>
              <a:rPr lang="en-US" dirty="0" smtClean="0"/>
              <a:t>Technologies Used (Example)</a:t>
            </a:r>
            <a:br>
              <a:rPr lang="en-US" dirty="0" smtClean="0"/>
            </a:br>
            <a:endParaRPr lang="en-US" dirty="0"/>
          </a:p>
        </p:txBody>
      </p:sp>
      <p:sp>
        <p:nvSpPr>
          <p:cNvPr id="3" name="Content Placeholder 2"/>
          <p:cNvSpPr>
            <a:spLocks noGrp="1"/>
          </p:cNvSpPr>
          <p:nvPr>
            <p:ph idx="1"/>
          </p:nvPr>
        </p:nvSpPr>
        <p:spPr/>
        <p:txBody>
          <a:bodyPr/>
          <a:lstStyle/>
          <a:p>
            <a:r>
              <a:rPr lang="en-US" b="1" dirty="0" smtClean="0"/>
              <a:t>Frontend:</a:t>
            </a:r>
            <a:r>
              <a:rPr lang="en-US" dirty="0" smtClean="0"/>
              <a:t> HTML, CSS, JavaScript (or React.js, depending on the scope)</a:t>
            </a:r>
          </a:p>
          <a:p>
            <a:r>
              <a:rPr lang="en-US" b="1" dirty="0" smtClean="0"/>
              <a:t>Backend (optional):</a:t>
            </a:r>
            <a:r>
              <a:rPr lang="en-US" dirty="0" smtClean="0"/>
              <a:t> Node.js, Firebase, or PHP</a:t>
            </a:r>
          </a:p>
          <a:p>
            <a:r>
              <a:rPr lang="en-US" b="1" dirty="0" smtClean="0"/>
              <a:t>Design Tools:</a:t>
            </a:r>
            <a:r>
              <a:rPr lang="en-US" dirty="0" smtClean="0"/>
              <a:t> </a:t>
            </a:r>
            <a:r>
              <a:rPr lang="en-US" dirty="0" err="1" smtClean="0"/>
              <a:t>Figma</a:t>
            </a:r>
            <a:r>
              <a:rPr lang="en-US" dirty="0" smtClean="0"/>
              <a:t>, Adobe XD (for UI/UX design)</a:t>
            </a:r>
          </a:p>
          <a:p>
            <a:r>
              <a:rPr lang="en-US" b="1" dirty="0" smtClean="0"/>
              <a:t>Hosting:</a:t>
            </a:r>
            <a:r>
              <a:rPr lang="en-US" dirty="0" smtClean="0"/>
              <a:t> </a:t>
            </a:r>
            <a:r>
              <a:rPr lang="en-US" dirty="0" err="1" smtClean="0"/>
              <a:t>GitHub</a:t>
            </a:r>
            <a:r>
              <a:rPr lang="en-US" dirty="0" smtClean="0"/>
              <a:t> Pages, </a:t>
            </a:r>
            <a:r>
              <a:rPr lang="en-US" dirty="0" err="1" smtClean="0"/>
              <a:t>Netlify</a:t>
            </a:r>
            <a:r>
              <a:rPr lang="en-US" dirty="0" smtClean="0"/>
              <a:t>, or personal domain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End Users</a:t>
            </a:r>
          </a:p>
        </p:txBody>
      </p:sp>
      <p:sp>
        <p:nvSpPr>
          <p:cNvPr id="3" name="Content Placeholder 2"/>
          <p:cNvSpPr>
            <a:spLocks noGrp="1"/>
          </p:cNvSpPr>
          <p:nvPr>
            <p:ph idx="1"/>
          </p:nvPr>
        </p:nvSpPr>
        <p:spPr>
          <a:xfrm>
            <a:off x="856527" y="1724627"/>
            <a:ext cx="7830273" cy="1655181"/>
          </a:xfrm>
        </p:spPr>
        <p:txBody>
          <a:bodyPr>
            <a:noAutofit/>
          </a:bodyPr>
          <a:lstStyle/>
          <a:p>
            <a:pPr marL="633222" indent="-514350">
              <a:buNone/>
            </a:pPr>
            <a:r>
              <a:rPr lang="en-US" sz="1800" b="1" dirty="0" smtClean="0"/>
              <a:t>1.Students</a:t>
            </a:r>
          </a:p>
          <a:p>
            <a:pPr marL="633222" indent="-514350">
              <a:buAutoNum type="arabicPeriod"/>
            </a:pPr>
            <a:endParaRPr lang="en-US" sz="1800" b="1" dirty="0" smtClean="0"/>
          </a:p>
          <a:p>
            <a:pPr>
              <a:buFont typeface="Wingdings" pitchFamily="2" charset="2"/>
              <a:buChar char="§"/>
            </a:pPr>
            <a:r>
              <a:rPr lang="en-US" sz="1800" dirty="0" smtClean="0"/>
              <a:t>Use the digital portfolio to showcase academic achievements, coursework, personal projects, and extracurricular activities.</a:t>
            </a:r>
          </a:p>
          <a:p>
            <a:r>
              <a:rPr lang="en-US" sz="1800" dirty="0" smtClean="0"/>
              <a:t>Helpful when applying for internships, scholarships, or higher education.</a:t>
            </a:r>
          </a:p>
          <a:p>
            <a:endParaRPr lang="en-US" sz="1800" dirty="0" smtClean="0"/>
          </a:p>
          <a:p>
            <a:pPr>
              <a:buNone/>
            </a:pPr>
            <a:endParaRPr lang="en-US" sz="1800" b="1" dirty="0" smtClean="0"/>
          </a:p>
          <a:p>
            <a:pPr>
              <a:buNone/>
            </a:pPr>
            <a:endParaRPr lang="en-US" sz="1800" b="1" dirty="0" smtClean="0"/>
          </a:p>
          <a:p>
            <a:endParaRPr lang="en-US" sz="1800" dirty="0"/>
          </a:p>
        </p:txBody>
      </p:sp>
      <p:sp>
        <p:nvSpPr>
          <p:cNvPr id="4" name="Content Placeholder 2"/>
          <p:cNvSpPr txBox="1">
            <a:spLocks/>
          </p:cNvSpPr>
          <p:nvPr/>
        </p:nvSpPr>
        <p:spPr>
          <a:xfrm>
            <a:off x="1006998" y="3379808"/>
            <a:ext cx="7334491" cy="2083443"/>
          </a:xfrm>
          <a:prstGeom prst="rect">
            <a:avLst/>
          </a:prstGeom>
        </p:spPr>
        <p:txBody>
          <a:bodyPr vert="horz" lIns="54864" tIns="91440" rtlCol="0">
            <a:noAutofit/>
          </a:bodyPr>
          <a:lstStyle/>
          <a:p>
            <a:pPr marL="438912" marR="0" lvl="0" indent="-320040" algn="l" defTabSz="914400" rtl="0" eaLnBrk="1" fontAlgn="auto" latinLnBrk="0" hangingPunct="1">
              <a:lnSpc>
                <a:spcPct val="100000"/>
              </a:lnSpc>
              <a:spcBef>
                <a:spcPts val="0"/>
              </a:spcBef>
              <a:spcAft>
                <a:spcPts val="0"/>
              </a:spcAft>
              <a:buClr>
                <a:schemeClr val="accent1"/>
              </a:buClr>
              <a:buSzPct val="80000"/>
              <a:tabLst/>
              <a:defRPr/>
            </a:pPr>
            <a:r>
              <a:rPr lang="en-US" b="1" dirty="0" smtClean="0"/>
              <a:t>2.</a:t>
            </a:r>
            <a:r>
              <a:rPr kumimoji="0" lang="en-US" b="1" i="0" u="none" strike="noStrike" kern="1200" cap="none" spc="0" normalizeH="0" baseline="0" noProof="0" dirty="0" smtClean="0">
                <a:ln>
                  <a:noFill/>
                </a:ln>
                <a:solidFill>
                  <a:schemeClr val="tx1"/>
                </a:solidFill>
                <a:effectLst/>
                <a:uLnTx/>
                <a:uFillTx/>
                <a:latin typeface="+mn-lt"/>
                <a:ea typeface="+mn-ea"/>
                <a:cs typeface="+mn-cs"/>
              </a:rPr>
              <a:t>Freelancers &amp; </a:t>
            </a:r>
            <a:r>
              <a:rPr kumimoji="0" lang="en-US" b="1" i="0" u="none" strike="noStrike" kern="1200" cap="none" spc="0" normalizeH="0" baseline="0" noProof="0" dirty="0" err="1" smtClean="0">
                <a:ln>
                  <a:noFill/>
                </a:ln>
                <a:solidFill>
                  <a:schemeClr val="tx1"/>
                </a:solidFill>
                <a:effectLst/>
                <a:uLnTx/>
                <a:uFillTx/>
                <a:latin typeface="+mn-lt"/>
                <a:ea typeface="+mn-ea"/>
                <a:cs typeface="+mn-cs"/>
              </a:rPr>
              <a:t>Creatives</a:t>
            </a:r>
            <a:endParaRPr kumimoji="0" lang="en-US" b="1" i="0" u="none" strike="noStrike" kern="1200" cap="none" spc="0" normalizeH="0" baseline="0" noProof="0" dirty="0" smtClean="0">
              <a:ln>
                <a:noFill/>
              </a:ln>
              <a:solidFill>
                <a:schemeClr val="tx1"/>
              </a:solidFill>
              <a:effectLst/>
              <a:uLnTx/>
              <a:uFillTx/>
              <a:latin typeface="+mn-lt"/>
              <a:ea typeface="+mn-ea"/>
              <a:cs typeface="+mn-cs"/>
            </a:endParaRPr>
          </a:p>
          <a:p>
            <a:pPr marL="438912" marR="0" lvl="0" indent="-320040" algn="l" defTabSz="914400" rtl="0" eaLnBrk="1" fontAlgn="auto" latinLnBrk="0" hangingPunct="1">
              <a:lnSpc>
                <a:spcPct val="100000"/>
              </a:lnSpc>
              <a:spcBef>
                <a:spcPts val="0"/>
              </a:spcBef>
              <a:spcAft>
                <a:spcPts val="0"/>
              </a:spcAft>
              <a:buClr>
                <a:schemeClr val="accent1"/>
              </a:buClr>
              <a:buSzPct val="80000"/>
              <a:tabLst/>
              <a:defRPr/>
            </a:pPr>
            <a:endParaRPr kumimoji="0" lang="en-US" b="1" i="0" u="none" strike="noStrike" kern="1200" cap="none" spc="0" normalizeH="0" baseline="0" noProof="0" dirty="0" smtClean="0">
              <a:ln>
                <a:noFill/>
              </a:ln>
              <a:solidFill>
                <a:schemeClr val="tx1"/>
              </a:solidFill>
              <a:effectLst/>
              <a:uLnTx/>
              <a:uFillTx/>
              <a:latin typeface="+mn-lt"/>
              <a:ea typeface="+mn-ea"/>
              <a:cs typeface="+mn-cs"/>
            </a:endParaRP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Designers, writers, photographers, and developers can display their portfolios to attract clients.</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Helps in building credibility and attracting freelance or contract work.</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438912" marR="0" lvl="0" indent="-320040" algn="l" defTabSz="914400" rtl="0" eaLnBrk="1" fontAlgn="auto" latinLnBrk="0" hangingPunct="1">
              <a:lnSpc>
                <a:spcPct val="100000"/>
              </a:lnSpc>
              <a:spcBef>
                <a:spcPts val="0"/>
              </a:spcBef>
              <a:spcAft>
                <a:spcPts val="0"/>
              </a:spcAft>
              <a:buClr>
                <a:schemeClr val="accent1"/>
              </a:buClr>
              <a:buSzPct val="80000"/>
              <a:tabLst/>
              <a:defRPr/>
            </a:pPr>
            <a:r>
              <a:rPr lang="en-US" b="1" dirty="0" smtClean="0"/>
              <a:t>3</a:t>
            </a:r>
            <a:r>
              <a:rPr kumimoji="0" lang="en-US" b="1" i="0" u="none" strike="noStrike" kern="1200" cap="none" spc="0" normalizeH="0" baseline="0" noProof="0" dirty="0" smtClean="0">
                <a:ln>
                  <a:noFill/>
                </a:ln>
                <a:solidFill>
                  <a:schemeClr val="tx1"/>
                </a:solidFill>
                <a:effectLst/>
                <a:uLnTx/>
                <a:uFillTx/>
                <a:latin typeface="+mn-lt"/>
                <a:ea typeface="+mn-ea"/>
                <a:cs typeface="+mn-cs"/>
              </a:rPr>
              <a:t>. Educators &amp; Researchers</a:t>
            </a:r>
          </a:p>
          <a:p>
            <a:pPr marL="438912" marR="0" lvl="0" indent="-320040" algn="l" defTabSz="914400" rtl="0" eaLnBrk="1" fontAlgn="auto" latinLnBrk="0" hangingPunct="1">
              <a:lnSpc>
                <a:spcPct val="100000"/>
              </a:lnSpc>
              <a:spcBef>
                <a:spcPts val="0"/>
              </a:spcBef>
              <a:spcAft>
                <a:spcPts val="0"/>
              </a:spcAft>
              <a:buClr>
                <a:schemeClr val="accent1"/>
              </a:buClr>
              <a:buSzPct val="80000"/>
              <a:tabLst/>
              <a:defRPr/>
            </a:pPr>
            <a:endParaRPr kumimoji="0" lang="en-US" b="1" i="0" u="none" strike="noStrike" kern="1200" cap="none" spc="0" normalizeH="0" baseline="0" noProof="0" dirty="0" smtClean="0">
              <a:ln>
                <a:noFill/>
              </a:ln>
              <a:solidFill>
                <a:schemeClr val="tx1"/>
              </a:solidFill>
              <a:effectLst/>
              <a:uLnTx/>
              <a:uFillTx/>
              <a:latin typeface="+mn-lt"/>
              <a:ea typeface="+mn-ea"/>
              <a:cs typeface="+mn-cs"/>
            </a:endParaRP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Showcase publications, research work, conferences, and academic contributions.</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Useful for academic visibility and collaboration opportunities.</a:t>
            </a: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Technologies</a:t>
            </a:r>
          </a:p>
        </p:txBody>
      </p:sp>
      <p:sp>
        <p:nvSpPr>
          <p:cNvPr id="5" name="Rectangle 4"/>
          <p:cNvSpPr/>
          <p:nvPr/>
        </p:nvSpPr>
        <p:spPr>
          <a:xfrm>
            <a:off x="1620456" y="1825424"/>
            <a:ext cx="6400800" cy="2893100"/>
          </a:xfrm>
          <a:prstGeom prst="rect">
            <a:avLst/>
          </a:prstGeom>
        </p:spPr>
        <p:txBody>
          <a:bodyPr wrap="square">
            <a:spAutoFit/>
          </a:bodyPr>
          <a:lstStyle/>
          <a:p>
            <a:r>
              <a:rPr lang="en-US" sz="2800" b="1" dirty="0" smtClean="0"/>
              <a:t>Front-End Technologies (For Design &amp; UI Development):</a:t>
            </a:r>
          </a:p>
          <a:p>
            <a:r>
              <a:rPr lang="en-US" dirty="0" smtClean="0"/>
              <a:t>These tools help build the structure, style, and interactivity of your portfolio.</a:t>
            </a:r>
          </a:p>
          <a:p>
            <a:pPr>
              <a:buFont typeface="Wingdings" pitchFamily="2" charset="2"/>
              <a:buChar char="q"/>
            </a:pPr>
            <a:r>
              <a:rPr lang="en-US" b="1" dirty="0" smtClean="0"/>
              <a:t>HTML5</a:t>
            </a:r>
            <a:r>
              <a:rPr lang="en-US" dirty="0" smtClean="0"/>
              <a:t> – For structuring the content of the web pages.</a:t>
            </a:r>
          </a:p>
          <a:p>
            <a:pPr>
              <a:buFont typeface="Wingdings" pitchFamily="2" charset="2"/>
              <a:buChar char="q"/>
            </a:pPr>
            <a:r>
              <a:rPr lang="en-US" b="1" dirty="0" smtClean="0"/>
              <a:t>CSS3 / SCSS</a:t>
            </a:r>
            <a:r>
              <a:rPr lang="en-US" dirty="0" smtClean="0"/>
              <a:t> – For styling and layout (colors, fonts, animations).</a:t>
            </a:r>
          </a:p>
          <a:p>
            <a:pPr>
              <a:buFont typeface="Wingdings" pitchFamily="2" charset="2"/>
              <a:buChar char="q"/>
            </a:pPr>
            <a:r>
              <a:rPr lang="en-US" b="1" dirty="0" smtClean="0"/>
              <a:t>JavaScript</a:t>
            </a:r>
            <a:r>
              <a:rPr lang="en-US" dirty="0" smtClean="0"/>
              <a:t> – For adding interactivity (e.g., animations, sliders).</a:t>
            </a:r>
          </a:p>
          <a:p>
            <a:pPr>
              <a:buFont typeface="Wingdings" pitchFamily="2" charset="2"/>
              <a:buChar char="q"/>
            </a:pPr>
            <a:r>
              <a:rPr lang="en-US" b="1" dirty="0" smtClean="0"/>
              <a:t>Bootstrap / Tailwind CSS</a:t>
            </a:r>
            <a:r>
              <a:rPr lang="en-US" dirty="0" smtClean="0"/>
              <a:t> – CSS frameworks for faster responsive design.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592" y="155448"/>
            <a:ext cx="6580208" cy="1252728"/>
          </a:xfrm>
        </p:spPr>
        <p:txBody>
          <a:bodyPr/>
          <a:lstStyle/>
          <a:p>
            <a:r>
              <a:rPr lang="en-US" dirty="0" smtClean="0"/>
              <a:t>Portfolio Design</a:t>
            </a:r>
            <a:endParaRPr dirty="0"/>
          </a:p>
        </p:txBody>
      </p:sp>
      <p:pic>
        <p:nvPicPr>
          <p:cNvPr id="4" name="Content Placeholder 3" descr="canva-pink-and-black-modern-graphic-design-student-portfolio-dV0rxfxlikI.jpg"/>
          <p:cNvPicPr>
            <a:picLocks noGrp="1" noChangeAspect="1"/>
          </p:cNvPicPr>
          <p:nvPr>
            <p:ph idx="1"/>
          </p:nvPr>
        </p:nvPicPr>
        <p:blipFill>
          <a:blip r:embed="rId2"/>
          <a:stretch>
            <a:fillRect/>
          </a:stretch>
        </p:blipFill>
        <p:spPr>
          <a:xfrm>
            <a:off x="1134319" y="1774825"/>
            <a:ext cx="6261904" cy="4625975"/>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Portfolio </a:t>
            </a:r>
            <a:r>
              <a:rPr dirty="0" smtClean="0"/>
              <a:t> </a:t>
            </a:r>
            <a:r>
              <a:rPr dirty="0"/>
              <a:t>Layout</a:t>
            </a:r>
          </a:p>
        </p:txBody>
      </p:sp>
      <p:sp>
        <p:nvSpPr>
          <p:cNvPr id="3" name="Content Placeholder 2"/>
          <p:cNvSpPr>
            <a:spLocks noGrp="1"/>
          </p:cNvSpPr>
          <p:nvPr>
            <p:ph idx="1"/>
          </p:nvPr>
        </p:nvSpPr>
        <p:spPr/>
        <p:txBody>
          <a:bodyPr/>
          <a:lstStyle/>
          <a:p>
            <a:pPr>
              <a:buNone/>
            </a:pPr>
            <a:endParaRPr dirty="0"/>
          </a:p>
        </p:txBody>
      </p:sp>
      <p:pic>
        <p:nvPicPr>
          <p:cNvPr id="4" name="Picture 3" descr="gradient-interview-portfolio-template_23-2149220443.jpg"/>
          <p:cNvPicPr>
            <a:picLocks noChangeAspect="1"/>
          </p:cNvPicPr>
          <p:nvPr/>
        </p:nvPicPr>
        <p:blipFill>
          <a:blip r:embed="rId2"/>
          <a:stretch>
            <a:fillRect/>
          </a:stretch>
        </p:blipFill>
        <p:spPr>
          <a:xfrm>
            <a:off x="2186940" y="2314937"/>
            <a:ext cx="4770120" cy="32756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lumMod val="95000"/>
                  </a:schemeClr>
                </a:solidFill>
                <a:latin typeface="Times New Roman" panose="02020603050405020304" pitchFamily="18" charset="0"/>
                <a:cs typeface="Times New Roman" panose="02020603050405020304" pitchFamily="18" charset="0"/>
              </a:rPr>
              <a:t>Features and Functionality</a:t>
            </a:r>
            <a:endParaRPr lang="en-US" dirty="0"/>
          </a:p>
        </p:txBody>
      </p:sp>
      <p:sp>
        <p:nvSpPr>
          <p:cNvPr id="3" name="Content Placeholder 2"/>
          <p:cNvSpPr>
            <a:spLocks noGrp="1"/>
          </p:cNvSpPr>
          <p:nvPr>
            <p:ph idx="1"/>
          </p:nvPr>
        </p:nvSpPr>
        <p:spPr>
          <a:xfrm>
            <a:off x="457200" y="1574157"/>
            <a:ext cx="8229600" cy="5092861"/>
          </a:xfrm>
        </p:spPr>
        <p:txBody>
          <a:bodyPr>
            <a:normAutofit fontScale="62500" lnSpcReduction="20000"/>
          </a:bodyPr>
          <a:lstStyle/>
          <a:p>
            <a:r>
              <a:rPr lang="en-US" b="1" dirty="0" smtClean="0"/>
              <a:t>Responsive Design</a:t>
            </a:r>
          </a:p>
          <a:p>
            <a:r>
              <a:rPr lang="en-US" b="1" dirty="0" smtClean="0"/>
              <a:t>Function:</a:t>
            </a:r>
            <a:r>
              <a:rPr lang="en-US" dirty="0" smtClean="0"/>
              <a:t> Automatically adjusts to different screen sizes (desktop, tablet, mobile).</a:t>
            </a:r>
          </a:p>
          <a:p>
            <a:r>
              <a:rPr lang="en-US" b="1" dirty="0" smtClean="0"/>
              <a:t>Benefit:</a:t>
            </a:r>
            <a:r>
              <a:rPr lang="en-US" dirty="0" smtClean="0"/>
              <a:t> Enhances usability and accessibility across all devices.</a:t>
            </a:r>
          </a:p>
          <a:p>
            <a:r>
              <a:rPr lang="en-US" b="1" dirty="0" smtClean="0"/>
              <a:t>✅ 2. Interactive Navigation</a:t>
            </a:r>
          </a:p>
          <a:p>
            <a:r>
              <a:rPr lang="en-US" b="1" dirty="0" smtClean="0"/>
              <a:t>Function:</a:t>
            </a:r>
            <a:r>
              <a:rPr lang="en-US" dirty="0" smtClean="0"/>
              <a:t> Smooth scrolling, sticky </a:t>
            </a:r>
            <a:r>
              <a:rPr lang="en-US" dirty="0" err="1" smtClean="0"/>
              <a:t>navbars</a:t>
            </a:r>
            <a:r>
              <a:rPr lang="en-US" dirty="0" smtClean="0"/>
              <a:t>, and menu links.</a:t>
            </a:r>
          </a:p>
          <a:p>
            <a:r>
              <a:rPr lang="en-US" b="1" dirty="0" smtClean="0"/>
              <a:t>Benefit:</a:t>
            </a:r>
            <a:r>
              <a:rPr lang="en-US" dirty="0" smtClean="0"/>
              <a:t> Easy access to different sections of the portfolio.</a:t>
            </a:r>
          </a:p>
          <a:p>
            <a:r>
              <a:rPr lang="en-US" b="1" dirty="0" smtClean="0"/>
              <a:t>✅ 3. Dynamic Project Showcase</a:t>
            </a:r>
          </a:p>
          <a:p>
            <a:r>
              <a:rPr lang="en-US" b="1" dirty="0" smtClean="0"/>
              <a:t>Function:</a:t>
            </a:r>
            <a:r>
              <a:rPr lang="en-US" dirty="0" smtClean="0"/>
              <a:t> Projects displayed in cards, modals, or sliders with images, links, and descriptions.</a:t>
            </a:r>
          </a:p>
          <a:p>
            <a:r>
              <a:rPr lang="en-US" b="1" dirty="0" smtClean="0"/>
              <a:t>Benefit:</a:t>
            </a:r>
            <a:r>
              <a:rPr lang="en-US" dirty="0" smtClean="0"/>
              <a:t> Lets visitors easily explore your work with visuals and context.</a:t>
            </a:r>
          </a:p>
          <a:p>
            <a:r>
              <a:rPr lang="en-US" b="1" dirty="0" smtClean="0"/>
              <a:t>✅ 4. Contact Form Integration</a:t>
            </a:r>
          </a:p>
          <a:p>
            <a:r>
              <a:rPr lang="en-US" b="1" dirty="0" smtClean="0"/>
              <a:t>Function:</a:t>
            </a:r>
            <a:r>
              <a:rPr lang="en-US" dirty="0" smtClean="0"/>
              <a:t> Simple contact form with name, email, and message fields.</a:t>
            </a:r>
          </a:p>
          <a:p>
            <a:r>
              <a:rPr lang="en-US" b="1" dirty="0" smtClean="0"/>
              <a:t>Tools:</a:t>
            </a:r>
            <a:r>
              <a:rPr lang="en-US" dirty="0" smtClean="0"/>
              <a:t> </a:t>
            </a:r>
            <a:r>
              <a:rPr lang="en-US" dirty="0" err="1" smtClean="0"/>
              <a:t>EmailJS</a:t>
            </a:r>
            <a:r>
              <a:rPr lang="en-US" dirty="0" smtClean="0"/>
              <a:t>, </a:t>
            </a:r>
            <a:r>
              <a:rPr lang="en-US" dirty="0" err="1" smtClean="0"/>
              <a:t>Formspree</a:t>
            </a:r>
            <a:r>
              <a:rPr lang="en-US" dirty="0" smtClean="0"/>
              <a:t>, or backend script.</a:t>
            </a:r>
          </a:p>
          <a:p>
            <a:r>
              <a:rPr lang="en-US" b="1" dirty="0" smtClean="0"/>
              <a:t>Benefit:</a:t>
            </a:r>
            <a:r>
              <a:rPr lang="en-US" dirty="0" smtClean="0"/>
              <a:t> Enables potential employers or clients to get in touch.</a:t>
            </a:r>
          </a:p>
          <a:p>
            <a:r>
              <a:rPr lang="en-US" b="1" dirty="0" smtClean="0"/>
              <a:t>✅ 5. Downloadable Resume</a:t>
            </a:r>
          </a:p>
          <a:p>
            <a:r>
              <a:rPr lang="en-US" b="1" dirty="0" smtClean="0"/>
              <a:t>Function:</a:t>
            </a:r>
            <a:r>
              <a:rPr lang="en-US" dirty="0" smtClean="0"/>
              <a:t> Button or link to download your CV in PDF format.</a:t>
            </a:r>
          </a:p>
          <a:p>
            <a:r>
              <a:rPr lang="en-US" b="1" dirty="0" smtClean="0"/>
              <a:t>Benefit:</a:t>
            </a:r>
            <a:r>
              <a:rPr lang="en-US" dirty="0" smtClean="0"/>
              <a:t> Allows easy sharing of your qualifications offline.</a:t>
            </a:r>
          </a:p>
          <a:p>
            <a:endParaRPr lang="en-US" dirty="0" smtClean="0"/>
          </a:p>
          <a:p>
            <a:pPr>
              <a:buNone/>
            </a:pPr>
            <a:endParaRPr lang="en-US" sz="7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Result</a:t>
            </a:r>
            <a:endParaRPr/>
          </a:p>
        </p:txBody>
      </p:sp>
      <p:sp>
        <p:nvSpPr>
          <p:cNvPr id="3" name="Content Placeholder 2"/>
          <p:cNvSpPr>
            <a:spLocks noGrp="1"/>
          </p:cNvSpPr>
          <p:nvPr>
            <p:ph idx="1"/>
          </p:nvPr>
        </p:nvSpPr>
        <p:spPr/>
        <p:txBody>
          <a:bodyPr numCol="1"/>
          <a:lstStyle/>
          <a:p>
            <a:pPr marL="925830" lvl="1" indent="-514350" algn="just"/>
            <a:r>
              <a:rPr lang="en-US" dirty="0" smtClean="0"/>
              <a:t>Portfolio website successfully developed and deployed.</a:t>
            </a:r>
          </a:p>
          <a:p>
            <a:pPr marL="925830" lvl="1" indent="-514350" algn="just"/>
            <a:r>
              <a:rPr lang="en-US" dirty="0" smtClean="0"/>
              <a:t>Showcases </a:t>
            </a:r>
            <a:r>
              <a:rPr lang="en-US" b="1" dirty="0" err="1" smtClean="0"/>
              <a:t>Home,About,Projects</a:t>
            </a:r>
            <a:r>
              <a:rPr lang="en-US" b="1" dirty="0" smtClean="0"/>
              <a:t>, and Contact </a:t>
            </a:r>
            <a:r>
              <a:rPr lang="en-US" dirty="0" smtClean="0"/>
              <a:t>sections.</a:t>
            </a:r>
          </a:p>
          <a:p>
            <a:pPr marL="925830" lvl="1" indent="-514350" algn="just"/>
            <a:r>
              <a:rPr lang="en-US" dirty="0" smtClean="0"/>
              <a:t>Fully responsive design (works on </a:t>
            </a:r>
            <a:r>
              <a:rPr lang="en-US" dirty="0" err="1" smtClean="0"/>
              <a:t>mobile,tablet</a:t>
            </a:r>
            <a:r>
              <a:rPr lang="en-US" dirty="0" smtClean="0"/>
              <a:t>, desktop)</a:t>
            </a:r>
          </a:p>
          <a:p>
            <a:pPr marL="925830" lvl="1" indent="-514350" algn="just"/>
            <a:r>
              <a:rPr lang="en-US" dirty="0" smtClean="0"/>
              <a:t>Enhances </a:t>
            </a:r>
            <a:r>
              <a:rPr lang="en-US" b="1" dirty="0" smtClean="0"/>
              <a:t>professional visibility </a:t>
            </a:r>
            <a:r>
              <a:rPr lang="en-US" dirty="0" smtClean="0"/>
              <a:t>for job &amp; internship opportunities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Screenshots</a:t>
            </a:r>
          </a:p>
        </p:txBody>
      </p:sp>
      <p:pic>
        <p:nvPicPr>
          <p:cNvPr id="15" name="Content Placeholder 14" descr="WhatsApp Image 2025-09-01 at 4.48.56 PM (1).jpeg"/>
          <p:cNvPicPr>
            <a:picLocks noGrp="1" noChangeAspect="1"/>
          </p:cNvPicPr>
          <p:nvPr>
            <p:ph idx="1"/>
          </p:nvPr>
        </p:nvPicPr>
        <p:blipFill>
          <a:blip r:embed="rId2"/>
          <a:stretch>
            <a:fillRect/>
          </a:stretch>
        </p:blipFill>
        <p:spPr>
          <a:xfrm>
            <a:off x="1619250" y="1774825"/>
            <a:ext cx="5905500" cy="4625975"/>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Learned front-end web development. Portfolio acts as a living resume.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Links &amp; References</a:t>
            </a:r>
          </a:p>
        </p:txBody>
      </p:sp>
      <p:sp>
        <p:nvSpPr>
          <p:cNvPr id="3" name="Content Placeholder 2"/>
          <p:cNvSpPr>
            <a:spLocks noGrp="1"/>
          </p:cNvSpPr>
          <p:nvPr>
            <p:ph idx="1"/>
          </p:nvPr>
        </p:nvSpPr>
        <p:spPr/>
        <p:txBody>
          <a:bodyPr/>
          <a:lstStyle/>
          <a:p>
            <a:r>
              <a:t>CodePen: https</a:t>
            </a:r>
            <a:r>
              <a:rPr/>
              <a:t>://</a:t>
            </a:r>
            <a:r>
              <a:rPr smtClean="0"/>
              <a:t>codepen.io</a:t>
            </a:r>
            <a:r>
              <a:rPr smtClean="0"/>
              <a:t>/-the-looper/pen/ByoVWVo</a:t>
            </a:r>
            <a:endParaRPr/>
          </a:p>
          <a:p>
            <a:r>
              <a:t>GitHub: [Your GitHub Link]</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633</TotalTime>
  <Words>848</Words>
  <Application>Microsoft Office PowerPoint</Application>
  <PresentationFormat>On-screen Show (4:3)</PresentationFormat>
  <Paragraphs>118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Module</vt:lpstr>
      <vt:lpstr>Digital Portfolio 2025</vt:lpstr>
      <vt:lpstr>PROJECT TITLE</vt:lpstr>
      <vt:lpstr>DEFINITION OF DIGITAL PORTFOLIO</vt:lpstr>
      <vt:lpstr>Agenda</vt:lpstr>
      <vt:lpstr>PROBLEM  STATEMENT</vt:lpstr>
      <vt:lpstr>PROJECT  OVERVIEW</vt:lpstr>
      <vt:lpstr>Project  Description</vt:lpstr>
      <vt:lpstr>Purpose and Goals</vt:lpstr>
      <vt:lpstr>Key features</vt:lpstr>
      <vt:lpstr>Target Users</vt:lpstr>
      <vt:lpstr>Technologies Used (Example) </vt:lpstr>
      <vt:lpstr>End Users</vt:lpstr>
      <vt:lpstr>Tools &amp; Technologies</vt:lpstr>
      <vt:lpstr>Portfolio Design</vt:lpstr>
      <vt:lpstr>Portfolio  Layout</vt:lpstr>
      <vt:lpstr>Features and Functionality</vt:lpstr>
      <vt:lpstr>Result</vt:lpstr>
      <vt:lpstr>Screenshots</vt:lpstr>
      <vt:lpstr>Conclusion</vt:lpstr>
      <vt:lpstr>Links &amp; References</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Portfolio 2025</dc:title>
  <dc:creator>kcas</dc:creator>
  <dc:description>generated using python-pptx</dc:description>
  <cp:lastModifiedBy>My Pc</cp:lastModifiedBy>
  <cp:revision>57</cp:revision>
  <dcterms:created xsi:type="dcterms:W3CDTF">2013-01-27T09:14:16Z</dcterms:created>
  <dcterms:modified xsi:type="dcterms:W3CDTF">2025-09-01T13:23:44Z</dcterms:modified>
</cp:coreProperties>
</file>